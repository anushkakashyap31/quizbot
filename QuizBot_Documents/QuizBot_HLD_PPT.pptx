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3" r:id="rId9"/>
    <p:sldId id="279" r:id="rId10"/>
    <p:sldId id="262" r:id="rId11"/>
    <p:sldId id="263" r:id="rId12"/>
    <p:sldId id="264" r:id="rId13"/>
    <p:sldId id="265" r:id="rId14"/>
    <p:sldId id="266" r:id="rId15"/>
    <p:sldId id="269" r:id="rId16"/>
    <p:sldId id="270" r:id="rId17"/>
    <p:sldId id="267" r:id="rId18"/>
    <p:sldId id="280" r:id="rId19"/>
    <p:sldId id="271" r:id="rId20"/>
    <p:sldId id="272" r:id="rId21"/>
    <p:sldId id="273" r:id="rId22"/>
    <p:sldId id="281" r:id="rId23"/>
    <p:sldId id="274" r:id="rId24"/>
    <p:sldId id="276" r:id="rId25"/>
    <p:sldId id="27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97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A908-C51F-9B43-13A8-63F85D1F0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F7103-8F57-AA11-622B-A3503E563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53E33-99CC-5087-E181-CA6DF5712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11F07-16F8-81A2-1D3E-1FD6CBE19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10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AD787-F67B-39D7-4634-416E1056D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74921-B8D8-D2A1-CCA6-839AEDAE9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447C4-77EB-A53E-553B-74D8982B9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FCA7D-B4B0-673E-42DE-0E6022DB3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5B9F-4C5A-8F6C-EFC1-A91ADE0D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89B27-E50E-CA8E-9135-83CD5175C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28C88-4098-A247-216D-3B4FA543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1E587-0669-45FA-337D-215EF5416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63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B460-5A46-65F8-0558-268F1067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C5EA5-5BAA-F585-DE2E-B46C0A703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00996-3DB8-C104-7271-E58C6505C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17EB-D9DB-69DA-C9EB-80B5AD727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67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Design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Educational Assessment Platform for the Non-Profit Sector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Course  |  Medicaps University – Datagami  |  Academic Year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03D2  |  Project GAI-15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773168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Anushka Kashyap (EN22CS301180)   |   Ananya Subramanya Rao (EN22CS301120)   |   Anirudh Vyas (EN22CS301131)   |   Atharv Chaturvedi (EN22CS301228)   |   Harshit Panchal (EN23CS3L1010)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048E98-4E2E-053F-1DD5-005CFE4E9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3"/>
            <a:ext cx="9144000" cy="51388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5029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5029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68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3682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Process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5029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11810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 &amp; DFDs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867912"/>
            <a:ext cx="5029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8679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Design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868680"/>
            <a:ext cx="502920" cy="50292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868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Catalogue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618488"/>
            <a:ext cx="502920" cy="50292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1618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&amp; Models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368296"/>
            <a:ext cx="502920" cy="50292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368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23682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3118104"/>
            <a:ext cx="502920" cy="50292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311810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Session Management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3867912"/>
            <a:ext cx="502920" cy="50292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38679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E5715767-A344-1EA2-66EF-1F9A1FBD03E1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professionals need continuous learning on best practices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learning lacks personalization and immediate feedback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donor communications and structured learning experiences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QuizBot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</a:t>
            </a: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AI-powered web application for the non-profit sector. It transforms real-world donor emails into intelligent, AI-powered assessments — testing comprehension, reinforcing learning, and tracking progress over time. 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9ACAEC-8DB7-1EC1-EE27-A6BC9C1BC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363" y="673605"/>
            <a:ext cx="3608506" cy="4246551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FFCD07FE-FA00-7336-5D44-5EF57B7293CC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49808"/>
            <a:ext cx="8412480" cy="137160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04672"/>
            <a:ext cx="80467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AI-driven educational bot for the Non-Profit domain that engages users in targeted assessments based on donor emails, evaluates their responses using an LLM, and provides deep contextual explanations — creating a personalized learning loop.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22860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donor email content and auto-generate contextual MCQ-based quizzes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22860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Gemini LLM to generate questions, evaluate answers, and give personalized feedback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22860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donor email embeddings in ChromaDB/FAISS for semantic search and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user quiz history, scores, and learning progress via Firebase Realtime Database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33756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analytics dashboards showing performance trends, accuracy rates, and achievements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84048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user authentication via Firebase Authentication</a:t>
            </a:r>
            <a:endParaRPr lang="en-US" sz="12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9D0DEB08-15FB-5CC7-A0E4-2A154C591595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 is a full-stack, AI-powered web application for non-profit sector education. It allows users to paste donor emails and the system automatically generates contextual MCQs using a Large Language Model i.e. Google Gemini API, and evaluates responses, provide detailed AI-generated explanations and tracks user learning over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Quiz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processes donor emails and generates 3–10 contextual MCQs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Vector Semantic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stores email embeddings using Sentence Transformers for similarity matching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72768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 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evaluates each answer and generates personalized explanations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35808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127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User 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51129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handles secure email/password login and registration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035808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3127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Progress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51129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 stores quiz history, scores, and analytics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035808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127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Analytics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51129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performance trends, accuracy rates, and achievements</a:t>
            </a:r>
            <a:endParaRPr lang="en-US" sz="11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A17577B2-FC6A-3AF1-DDE0-3C76F6326F9D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3-Tier Client-Server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 follows a 3-Tier Client-Server Architecture with clear separation between Presentation, Business Logic, and Data layers.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SPA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EmailInput Component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QuizInterface + QuestionCard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Analytics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1709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(Python)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9202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 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962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Service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4381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913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Service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1709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Multi-Database Strategy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9202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 Store)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962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Structured)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4381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913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API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17520" y="2743200"/>
            <a:ext cx="50292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5943600" y="2743200"/>
            <a:ext cx="502920" cy="0"/>
          </a:xfrm>
          <a:prstGeom prst="line">
            <a:avLst/>
          </a:prstGeom>
          <a:noFill/>
          <a:ln w="31750">
            <a:solidFill>
              <a:srgbClr val="1A2456"/>
            </a:solidFill>
            <a:prstDash val="sysDash"/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1BAFE73-8354-56BC-FEFA-D275608F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73"/>
          <a:stretch>
            <a:fillRect/>
          </a:stretch>
        </p:blipFill>
        <p:spPr>
          <a:xfrm>
            <a:off x="196427" y="1298448"/>
            <a:ext cx="8673253" cy="3537288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D4C39D7B-A621-DA17-E9E8-D78BC87946A1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F755D76-1B34-A4C7-A898-3D055E8DA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4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853A3-8C04-0B0C-60C6-090541C8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F3B341-5FA8-10C8-3597-6C930EE2F6E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512C8C-A091-5252-D664-9669C736CFF7}"/>
              </a:ext>
            </a:extLst>
          </p:cNvPr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5D07A6-985E-6548-AC5D-3E9BA079744C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36CCB1-427A-61EE-5E0A-A4B95041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052607"/>
            <a:ext cx="8851392" cy="303828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68A1C35-07FB-BDEC-4040-271C4CEE9366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8700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6A765-BFA2-948E-55BA-59CBCFB25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A53DBC-3A28-D0EB-D8AE-201DBA05F9F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C90A3-DD49-FE37-11E0-6C7D5797DDB9}"/>
              </a:ext>
            </a:extLst>
          </p:cNvPr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9BFE3D-BD41-DD30-6D49-989B7BD46E77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A5823F38-FF1D-D37C-2D5C-768261176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9711" y="1091520"/>
            <a:ext cx="2861450" cy="385199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972AE186-B646-C63F-74A4-930C3A0369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1275" y="1091521"/>
            <a:ext cx="2861450" cy="385199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17CED825-D12D-739D-4F61-F5C07C200A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510" y="1091522"/>
            <a:ext cx="2861450" cy="3851995"/>
          </a:xfrm>
          <a:prstGeom prst="rect">
            <a:avLst/>
          </a:prstGeom>
        </p:spPr>
      </p:pic>
      <p:sp>
        <p:nvSpPr>
          <p:cNvPr id="42" name="Text 3">
            <a:extLst>
              <a:ext uri="{FF2B5EF4-FFF2-40B4-BE49-F238E27FC236}">
                <a16:creationId xmlns:a16="http://schemas.microsoft.com/office/drawing/2014/main" id="{F579C6CD-8641-4835-6D33-7C15883A7465}"/>
              </a:ext>
            </a:extLst>
          </p:cNvPr>
          <p:cNvSpPr/>
          <p:nvPr/>
        </p:nvSpPr>
        <p:spPr>
          <a:xfrm>
            <a:off x="316992" y="7254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journey: from pasting a donor email to receiving quiz results and progress analytics.</a:t>
            </a:r>
            <a:endParaRPr lang="en-US" sz="130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AEF59C42-9BF1-B6A9-2251-19FE2C7214C2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5113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 – Data Flow Diagram – Level 0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showing component interactions, data flow, and service integrations.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8595360" cy="36576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AA0BE2F-F590-7102-A996-F7724B168176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 – Data Flow Diagram – Level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context diagram showing external entities and their data flows with the </a:t>
            </a:r>
            <a:r>
              <a:rPr lang="en-US" sz="1300" dirty="0" err="1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</a:t>
            </a: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8595360" cy="36576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972B84C-350E-DA94-0C1A-200F9F873898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Design – Backend Components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04088"/>
            <a:ext cx="8595360" cy="414223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C939A33-80FF-5F68-ABA2-9EB71326622B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Design – Frontend Components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04088"/>
            <a:ext cx="8595360" cy="414223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F26C3DA-F779-4DC9-B101-1F9FA3925010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378681"/>
              </p:ext>
            </p:extLst>
          </p:nvPr>
        </p:nvGraphicFramePr>
        <p:xfrm>
          <a:off x="514350" y="777240"/>
          <a:ext cx="8115300" cy="3870963"/>
        </p:xfrm>
        <a:graphic>
          <a:graphicData uri="http://schemas.openxmlformats.org/drawingml/2006/table">
            <a:tbl>
              <a:tblPr/>
              <a:tblGrid>
                <a:gridCol w="2076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 Email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→ ChromaDB +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Transformers → ChromaDB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384-dim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Questions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→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→ 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Submission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Explanations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→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Submission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→ Firebase Realtime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 → Frontend/Backend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Login/Register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1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→ Backend →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68A1AC3D-39DC-BADA-3542-1012F5210475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Catalogue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http://localhost:8000</a:t>
            </a:r>
            <a:endParaRPr lang="en-US" sz="13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17FA21-6751-09A4-6527-06FD6E4CC893}"/>
              </a:ext>
            </a:extLst>
          </p:cNvPr>
          <p:cNvGrpSpPr/>
          <p:nvPr/>
        </p:nvGrpSpPr>
        <p:grpSpPr>
          <a:xfrm>
            <a:off x="274320" y="1143000"/>
            <a:ext cx="8595360" cy="3621024"/>
            <a:chOff x="274320" y="1143000"/>
            <a:chExt cx="8595360" cy="3621024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6B715E52-1BDC-BE28-E329-0B87BB87857E}"/>
                </a:ext>
              </a:extLst>
            </p:cNvPr>
            <p:cNvSpPr/>
            <p:nvPr/>
          </p:nvSpPr>
          <p:spPr>
            <a:xfrm>
              <a:off x="274320" y="1143000"/>
              <a:ext cx="8595360" cy="292608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2254A3C-5773-694D-7FEE-C3EF08E6F2C6}"/>
                </a:ext>
              </a:extLst>
            </p:cNvPr>
            <p:cNvSpPr/>
            <p:nvPr/>
          </p:nvSpPr>
          <p:spPr>
            <a:xfrm>
              <a:off x="365760" y="114300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Authentication APIs  (/api/auth)</a:t>
              </a:r>
              <a:endParaRPr lang="en-US" sz="110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F411D0A-4F54-6B55-3AEA-563D3F9520B5}"/>
                </a:ext>
              </a:extLst>
            </p:cNvPr>
            <p:cNvSpPr/>
            <p:nvPr/>
          </p:nvSpPr>
          <p:spPr>
            <a:xfrm>
              <a:off x="274320" y="1453896"/>
              <a:ext cx="8595360" cy="347472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74354444-4712-76D3-0EE3-D33FA5D5E390}"/>
                </a:ext>
              </a:extLst>
            </p:cNvPr>
            <p:cNvSpPr/>
            <p:nvPr/>
          </p:nvSpPr>
          <p:spPr>
            <a:xfrm>
              <a:off x="320040" y="1499616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0D6EFD"/>
            </a:solidFill>
            <a:ln w="12700">
              <a:solidFill>
                <a:srgbClr val="0D6EFD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75558DF-D947-7FA1-5CEE-C6BF7E1D8A56}"/>
                </a:ext>
              </a:extLst>
            </p:cNvPr>
            <p:cNvSpPr/>
            <p:nvPr/>
          </p:nvSpPr>
          <p:spPr>
            <a:xfrm>
              <a:off x="320040" y="1499616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POST</a:t>
              </a:r>
              <a:endParaRPr lang="en-US" sz="8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288B19C-B455-E61A-E833-34F70E6E2866}"/>
                </a:ext>
              </a:extLst>
            </p:cNvPr>
            <p:cNvSpPr/>
            <p:nvPr/>
          </p:nvSpPr>
          <p:spPr>
            <a:xfrm>
              <a:off x="868680" y="1490472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/api/auth/login</a:t>
              </a:r>
              <a:endParaRPr lang="en-US" sz="95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3B04E19C-6AE4-F49C-F5E0-ADE4BE51487D}"/>
                </a:ext>
              </a:extLst>
            </p:cNvPr>
            <p:cNvSpPr/>
            <p:nvPr/>
          </p:nvSpPr>
          <p:spPr>
            <a:xfrm>
              <a:off x="3794760" y="1490472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Verify Firebase token, return JWT + user profile</a:t>
              </a:r>
              <a:endParaRPr lang="en-US" sz="95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3153D041-886B-ECC9-9BF3-EDD8F88A9A6B}"/>
                </a:ext>
              </a:extLst>
            </p:cNvPr>
            <p:cNvSpPr/>
            <p:nvPr/>
          </p:nvSpPr>
          <p:spPr>
            <a:xfrm>
              <a:off x="8138160" y="1527048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64748B"/>
                  </a:solidFill>
                </a:rPr>
                <a:t>Auth: No</a:t>
              </a:r>
              <a:endParaRPr lang="en-US" sz="750" dirty="0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5DF8BB60-1DA6-E644-BF05-2DA1E03A5CD6}"/>
                </a:ext>
              </a:extLst>
            </p:cNvPr>
            <p:cNvSpPr/>
            <p:nvPr/>
          </p:nvSpPr>
          <p:spPr>
            <a:xfrm>
              <a:off x="274320" y="1819656"/>
              <a:ext cx="8595360" cy="347472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25037164-60B6-049F-FE00-F8FF32A43B9E}"/>
                </a:ext>
              </a:extLst>
            </p:cNvPr>
            <p:cNvSpPr/>
            <p:nvPr/>
          </p:nvSpPr>
          <p:spPr>
            <a:xfrm>
              <a:off x="320040" y="1865376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0949C9E8-7EA2-9C74-303D-BB5771E9DCF0}"/>
                </a:ext>
              </a:extLst>
            </p:cNvPr>
            <p:cNvSpPr/>
            <p:nvPr/>
          </p:nvSpPr>
          <p:spPr>
            <a:xfrm>
              <a:off x="320040" y="1865376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GET</a:t>
              </a:r>
              <a:endParaRPr lang="en-US" sz="8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95AEA805-8FD9-9C0C-6B5C-B189C466A281}"/>
                </a:ext>
              </a:extLst>
            </p:cNvPr>
            <p:cNvSpPr/>
            <p:nvPr/>
          </p:nvSpPr>
          <p:spPr>
            <a:xfrm>
              <a:off x="868680" y="1856232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/api/auth/me</a:t>
              </a:r>
              <a:endParaRPr lang="en-US" sz="950" dirty="0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62153196-2B48-28D2-0550-852DDBEC4590}"/>
                </a:ext>
              </a:extLst>
            </p:cNvPr>
            <p:cNvSpPr/>
            <p:nvPr/>
          </p:nvSpPr>
          <p:spPr>
            <a:xfrm>
              <a:off x="3794760" y="1856232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Get current authenticated user profile</a:t>
              </a:r>
              <a:endParaRPr lang="en-US" sz="950" dirty="0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B7F70F84-2A93-C456-63F4-E9520F10B2EE}"/>
                </a:ext>
              </a:extLst>
            </p:cNvPr>
            <p:cNvSpPr/>
            <p:nvPr/>
          </p:nvSpPr>
          <p:spPr>
            <a:xfrm>
              <a:off x="8138160" y="1892808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59E0B"/>
                  </a:solidFill>
                </a:rPr>
                <a:t>Auth: Yes</a:t>
              </a:r>
              <a:endParaRPr lang="en-US" sz="750" dirty="0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399C87E5-3518-AC78-BD19-F9493C3BCCB3}"/>
                </a:ext>
              </a:extLst>
            </p:cNvPr>
            <p:cNvSpPr/>
            <p:nvPr/>
          </p:nvSpPr>
          <p:spPr>
            <a:xfrm>
              <a:off x="274320" y="2258568"/>
              <a:ext cx="8595360" cy="292608"/>
            </a:xfrm>
            <a:prstGeom prst="rect">
              <a:avLst/>
            </a:prstGeom>
            <a:solidFill>
              <a:srgbClr val="0D6EFD"/>
            </a:solidFill>
            <a:ln w="12700">
              <a:solidFill>
                <a:srgbClr val="0D6EFD"/>
              </a:solidFill>
              <a:prstDash val="solid"/>
            </a:ln>
          </p:spPr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B4D16D2D-9CBF-A896-9ACA-4C16278814DB}"/>
                </a:ext>
              </a:extLst>
            </p:cNvPr>
            <p:cNvSpPr/>
            <p:nvPr/>
          </p:nvSpPr>
          <p:spPr>
            <a:xfrm>
              <a:off x="365760" y="2258568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Quiz APIs  (/api/quiz)</a:t>
              </a:r>
              <a:endParaRPr lang="en-US" sz="110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89B5D068-7B5E-D37D-FDC4-282E80196540}"/>
                </a:ext>
              </a:extLst>
            </p:cNvPr>
            <p:cNvSpPr/>
            <p:nvPr/>
          </p:nvSpPr>
          <p:spPr>
            <a:xfrm>
              <a:off x="274320" y="2569464"/>
              <a:ext cx="8595360" cy="347472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C3C4962E-61C8-7E16-942A-E9AFD490CB33}"/>
                </a:ext>
              </a:extLst>
            </p:cNvPr>
            <p:cNvSpPr/>
            <p:nvPr/>
          </p:nvSpPr>
          <p:spPr>
            <a:xfrm>
              <a:off x="320040" y="2615184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0D6EFD"/>
            </a:solidFill>
            <a:ln w="12700">
              <a:solidFill>
                <a:srgbClr val="0D6EFD"/>
              </a:solidFill>
              <a:prstDash val="solid"/>
            </a:ln>
          </p:spPr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0CF45897-162E-82BB-1DB3-0A720EF9AB08}"/>
                </a:ext>
              </a:extLst>
            </p:cNvPr>
            <p:cNvSpPr/>
            <p:nvPr/>
          </p:nvSpPr>
          <p:spPr>
            <a:xfrm>
              <a:off x="320040" y="2615184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POST</a:t>
              </a:r>
              <a:endParaRPr lang="en-US" sz="800" dirty="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CFE1D2CD-BA88-324B-8BB8-7A2553BD5790}"/>
                </a:ext>
              </a:extLst>
            </p:cNvPr>
            <p:cNvSpPr/>
            <p:nvPr/>
          </p:nvSpPr>
          <p:spPr>
            <a:xfrm>
              <a:off x="868680" y="260604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/api/quiz/generate</a:t>
              </a:r>
              <a:endParaRPr lang="en-US" sz="95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C99F7B7B-4C01-9FDA-DF46-C6E9AED0916A}"/>
                </a:ext>
              </a:extLst>
            </p:cNvPr>
            <p:cNvSpPr/>
            <p:nvPr/>
          </p:nvSpPr>
          <p:spPr>
            <a:xfrm>
              <a:off x="3794760" y="2606040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Generate quiz from donor email content</a:t>
              </a:r>
              <a:endParaRPr lang="en-US" sz="95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FF87E078-95FE-2AD5-049E-26FD7EDE6172}"/>
                </a:ext>
              </a:extLst>
            </p:cNvPr>
            <p:cNvSpPr/>
            <p:nvPr/>
          </p:nvSpPr>
          <p:spPr>
            <a:xfrm>
              <a:off x="8138160" y="2642616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59E0B"/>
                  </a:solidFill>
                </a:rPr>
                <a:t>Auth: Yes</a:t>
              </a:r>
              <a:endParaRPr lang="en-US" sz="750" dirty="0"/>
            </a:p>
          </p:txBody>
        </p:sp>
        <p:sp>
          <p:nvSpPr>
            <p:cNvPr id="30" name="Shape 27">
              <a:extLst>
                <a:ext uri="{FF2B5EF4-FFF2-40B4-BE49-F238E27FC236}">
                  <a16:creationId xmlns:a16="http://schemas.microsoft.com/office/drawing/2014/main" id="{01E83623-1C54-F073-074E-9A1EF7DF33C7}"/>
                </a:ext>
              </a:extLst>
            </p:cNvPr>
            <p:cNvSpPr/>
            <p:nvPr/>
          </p:nvSpPr>
          <p:spPr>
            <a:xfrm>
              <a:off x="274320" y="2935224"/>
              <a:ext cx="8595360" cy="347472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5A13C079-ECB0-BC22-F926-A82FA0D5FCB0}"/>
                </a:ext>
              </a:extLst>
            </p:cNvPr>
            <p:cNvSpPr/>
            <p:nvPr/>
          </p:nvSpPr>
          <p:spPr>
            <a:xfrm>
              <a:off x="320040" y="2980944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0D6EFD"/>
            </a:solidFill>
            <a:ln w="12700">
              <a:solidFill>
                <a:srgbClr val="0D6EFD"/>
              </a:solidFill>
              <a:prstDash val="solid"/>
            </a:ln>
          </p:spPr>
        </p:sp>
        <p:sp>
          <p:nvSpPr>
            <p:cNvPr id="32" name="Text 29">
              <a:extLst>
                <a:ext uri="{FF2B5EF4-FFF2-40B4-BE49-F238E27FC236}">
                  <a16:creationId xmlns:a16="http://schemas.microsoft.com/office/drawing/2014/main" id="{90A93F63-204F-09A9-713D-B4B2628EFEBA}"/>
                </a:ext>
              </a:extLst>
            </p:cNvPr>
            <p:cNvSpPr/>
            <p:nvPr/>
          </p:nvSpPr>
          <p:spPr>
            <a:xfrm>
              <a:off x="320040" y="2980944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POST</a:t>
              </a:r>
              <a:endParaRPr lang="en-US" sz="800" dirty="0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D7C05542-A783-443B-8BCB-530C2D36B124}"/>
                </a:ext>
              </a:extLst>
            </p:cNvPr>
            <p:cNvSpPr/>
            <p:nvPr/>
          </p:nvSpPr>
          <p:spPr>
            <a:xfrm>
              <a:off x="868680" y="297180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/api/quiz/evaluate</a:t>
              </a:r>
              <a:endParaRPr lang="en-US" sz="950" dirty="0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858E9309-B878-5625-ED34-BD68B8B0E782}"/>
                </a:ext>
              </a:extLst>
            </p:cNvPr>
            <p:cNvSpPr/>
            <p:nvPr/>
          </p:nvSpPr>
          <p:spPr>
            <a:xfrm>
              <a:off x="3794760" y="2971800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Submit answers and get evaluated results</a:t>
              </a:r>
              <a:endParaRPr lang="en-US" sz="95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F107749A-B908-AFE9-C734-A4A94B297001}"/>
                </a:ext>
              </a:extLst>
            </p:cNvPr>
            <p:cNvSpPr/>
            <p:nvPr/>
          </p:nvSpPr>
          <p:spPr>
            <a:xfrm>
              <a:off x="8138160" y="3008376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59E0B"/>
                  </a:solidFill>
                </a:rPr>
                <a:t>Auth: Yes</a:t>
              </a:r>
              <a:endParaRPr lang="en-US" sz="750" dirty="0"/>
            </a:p>
          </p:txBody>
        </p:sp>
        <p:sp>
          <p:nvSpPr>
            <p:cNvPr id="36" name="Shape 33">
              <a:extLst>
                <a:ext uri="{FF2B5EF4-FFF2-40B4-BE49-F238E27FC236}">
                  <a16:creationId xmlns:a16="http://schemas.microsoft.com/office/drawing/2014/main" id="{6CC7300F-E556-2AF3-CE44-DFAE5D1EDD70}"/>
                </a:ext>
              </a:extLst>
            </p:cNvPr>
            <p:cNvSpPr/>
            <p:nvPr/>
          </p:nvSpPr>
          <p:spPr>
            <a:xfrm>
              <a:off x="274320" y="3374136"/>
              <a:ext cx="8595360" cy="292608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BDA2998E-9EE8-CC68-261C-6300A7B4C433}"/>
                </a:ext>
              </a:extLst>
            </p:cNvPr>
            <p:cNvSpPr/>
            <p:nvPr/>
          </p:nvSpPr>
          <p:spPr>
            <a:xfrm>
              <a:off x="365760" y="3374136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Analytics APIs  (/api/analytics)</a:t>
              </a:r>
              <a:endParaRPr lang="en-US" sz="1100" dirty="0"/>
            </a:p>
          </p:txBody>
        </p:sp>
        <p:sp>
          <p:nvSpPr>
            <p:cNvPr id="38" name="Shape 35">
              <a:extLst>
                <a:ext uri="{FF2B5EF4-FFF2-40B4-BE49-F238E27FC236}">
                  <a16:creationId xmlns:a16="http://schemas.microsoft.com/office/drawing/2014/main" id="{A847482E-677E-2033-1743-6D73D970E879}"/>
                </a:ext>
              </a:extLst>
            </p:cNvPr>
            <p:cNvSpPr/>
            <p:nvPr/>
          </p:nvSpPr>
          <p:spPr>
            <a:xfrm>
              <a:off x="274320" y="3685032"/>
              <a:ext cx="8595360" cy="347472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39" name="Shape 36">
              <a:extLst>
                <a:ext uri="{FF2B5EF4-FFF2-40B4-BE49-F238E27FC236}">
                  <a16:creationId xmlns:a16="http://schemas.microsoft.com/office/drawing/2014/main" id="{4C021909-DF26-5183-7674-BCA4471C4924}"/>
                </a:ext>
              </a:extLst>
            </p:cNvPr>
            <p:cNvSpPr/>
            <p:nvPr/>
          </p:nvSpPr>
          <p:spPr>
            <a:xfrm>
              <a:off x="320040" y="3730752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40" name="Text 37">
              <a:extLst>
                <a:ext uri="{FF2B5EF4-FFF2-40B4-BE49-F238E27FC236}">
                  <a16:creationId xmlns:a16="http://schemas.microsoft.com/office/drawing/2014/main" id="{BB702B9B-72BC-DD4A-1F88-BF1056ABD045}"/>
                </a:ext>
              </a:extLst>
            </p:cNvPr>
            <p:cNvSpPr/>
            <p:nvPr/>
          </p:nvSpPr>
          <p:spPr>
            <a:xfrm>
              <a:off x="320040" y="3730752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GET</a:t>
              </a:r>
              <a:endParaRPr lang="en-US" sz="800" dirty="0"/>
            </a:p>
          </p:txBody>
        </p:sp>
        <p:sp>
          <p:nvSpPr>
            <p:cNvPr id="41" name="Text 38">
              <a:extLst>
                <a:ext uri="{FF2B5EF4-FFF2-40B4-BE49-F238E27FC236}">
                  <a16:creationId xmlns:a16="http://schemas.microsoft.com/office/drawing/2014/main" id="{6269E893-4C00-3198-5CD1-44681AA73511}"/>
                </a:ext>
              </a:extLst>
            </p:cNvPr>
            <p:cNvSpPr/>
            <p:nvPr/>
          </p:nvSpPr>
          <p:spPr>
            <a:xfrm>
              <a:off x="868680" y="372160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/api/analytics/history</a:t>
              </a:r>
              <a:endParaRPr lang="en-US" sz="950" dirty="0"/>
            </a:p>
          </p:txBody>
        </p:sp>
        <p:sp>
          <p:nvSpPr>
            <p:cNvPr id="42" name="Text 39">
              <a:extLst>
                <a:ext uri="{FF2B5EF4-FFF2-40B4-BE49-F238E27FC236}">
                  <a16:creationId xmlns:a16="http://schemas.microsoft.com/office/drawing/2014/main" id="{FF1DBA84-F537-078F-A2A7-F0F13713F971}"/>
                </a:ext>
              </a:extLst>
            </p:cNvPr>
            <p:cNvSpPr/>
            <p:nvPr/>
          </p:nvSpPr>
          <p:spPr>
            <a:xfrm>
              <a:off x="3794760" y="3721608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Get all past quiz records for user</a:t>
              </a:r>
              <a:endParaRPr lang="en-US" sz="950" dirty="0"/>
            </a:p>
          </p:txBody>
        </p:sp>
        <p:sp>
          <p:nvSpPr>
            <p:cNvPr id="43" name="Text 40">
              <a:extLst>
                <a:ext uri="{FF2B5EF4-FFF2-40B4-BE49-F238E27FC236}">
                  <a16:creationId xmlns:a16="http://schemas.microsoft.com/office/drawing/2014/main" id="{3FF5A667-4D0D-83E5-A81F-F8EEA05CC2C4}"/>
                </a:ext>
              </a:extLst>
            </p:cNvPr>
            <p:cNvSpPr/>
            <p:nvPr/>
          </p:nvSpPr>
          <p:spPr>
            <a:xfrm>
              <a:off x="8138160" y="3758184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59E0B"/>
                  </a:solidFill>
                </a:rPr>
                <a:t>Auth: Yes</a:t>
              </a:r>
              <a:endParaRPr lang="en-US" sz="750" dirty="0"/>
            </a:p>
          </p:txBody>
        </p:sp>
        <p:sp>
          <p:nvSpPr>
            <p:cNvPr id="44" name="Shape 41">
              <a:extLst>
                <a:ext uri="{FF2B5EF4-FFF2-40B4-BE49-F238E27FC236}">
                  <a16:creationId xmlns:a16="http://schemas.microsoft.com/office/drawing/2014/main" id="{486B3BC1-53F6-80CB-2061-EFE04130F47D}"/>
                </a:ext>
              </a:extLst>
            </p:cNvPr>
            <p:cNvSpPr/>
            <p:nvPr/>
          </p:nvSpPr>
          <p:spPr>
            <a:xfrm>
              <a:off x="274320" y="4050792"/>
              <a:ext cx="8595360" cy="347472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45" name="Shape 42">
              <a:extLst>
                <a:ext uri="{FF2B5EF4-FFF2-40B4-BE49-F238E27FC236}">
                  <a16:creationId xmlns:a16="http://schemas.microsoft.com/office/drawing/2014/main" id="{CC007CC5-4E16-4C01-BC0B-7C7AA8F1C8EA}"/>
                </a:ext>
              </a:extLst>
            </p:cNvPr>
            <p:cNvSpPr/>
            <p:nvPr/>
          </p:nvSpPr>
          <p:spPr>
            <a:xfrm>
              <a:off x="320040" y="4096512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46" name="Text 43">
              <a:extLst>
                <a:ext uri="{FF2B5EF4-FFF2-40B4-BE49-F238E27FC236}">
                  <a16:creationId xmlns:a16="http://schemas.microsoft.com/office/drawing/2014/main" id="{FBEF7697-0A3F-7F03-F8AD-C3E0DC7D7A3B}"/>
                </a:ext>
              </a:extLst>
            </p:cNvPr>
            <p:cNvSpPr/>
            <p:nvPr/>
          </p:nvSpPr>
          <p:spPr>
            <a:xfrm>
              <a:off x="320040" y="4096512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GET</a:t>
              </a:r>
              <a:endParaRPr lang="en-US" sz="800" dirty="0"/>
            </a:p>
          </p:txBody>
        </p:sp>
        <p:sp>
          <p:nvSpPr>
            <p:cNvPr id="47" name="Text 44">
              <a:extLst>
                <a:ext uri="{FF2B5EF4-FFF2-40B4-BE49-F238E27FC236}">
                  <a16:creationId xmlns:a16="http://schemas.microsoft.com/office/drawing/2014/main" id="{6D55F284-AF95-D096-6C95-48F018A108AF}"/>
                </a:ext>
              </a:extLst>
            </p:cNvPr>
            <p:cNvSpPr/>
            <p:nvPr/>
          </p:nvSpPr>
          <p:spPr>
            <a:xfrm>
              <a:off x="868680" y="408736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/api/analytics/progress</a:t>
              </a:r>
              <a:endParaRPr lang="en-US" sz="950" dirty="0"/>
            </a:p>
          </p:txBody>
        </p:sp>
        <p:sp>
          <p:nvSpPr>
            <p:cNvPr id="48" name="Text 45">
              <a:extLst>
                <a:ext uri="{FF2B5EF4-FFF2-40B4-BE49-F238E27FC236}">
                  <a16:creationId xmlns:a16="http://schemas.microsoft.com/office/drawing/2014/main" id="{DEC00133-08C6-E332-309F-79D4FAA7F04F}"/>
                </a:ext>
              </a:extLst>
            </p:cNvPr>
            <p:cNvSpPr/>
            <p:nvPr/>
          </p:nvSpPr>
          <p:spPr>
            <a:xfrm>
              <a:off x="3794760" y="4087368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Get progress analytics and trend data</a:t>
              </a:r>
              <a:endParaRPr lang="en-US" sz="950" dirty="0"/>
            </a:p>
          </p:txBody>
        </p:sp>
        <p:sp>
          <p:nvSpPr>
            <p:cNvPr id="49" name="Text 46">
              <a:extLst>
                <a:ext uri="{FF2B5EF4-FFF2-40B4-BE49-F238E27FC236}">
                  <a16:creationId xmlns:a16="http://schemas.microsoft.com/office/drawing/2014/main" id="{DE443A2C-DBFF-2433-0AD8-3BBACFFFB419}"/>
                </a:ext>
              </a:extLst>
            </p:cNvPr>
            <p:cNvSpPr/>
            <p:nvPr/>
          </p:nvSpPr>
          <p:spPr>
            <a:xfrm>
              <a:off x="8138160" y="4123944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59E0B"/>
                  </a:solidFill>
                </a:rPr>
                <a:t>Auth: Yes</a:t>
              </a:r>
              <a:endParaRPr lang="en-US" sz="750" dirty="0"/>
            </a:p>
          </p:txBody>
        </p:sp>
        <p:sp>
          <p:nvSpPr>
            <p:cNvPr id="50" name="Shape 47">
              <a:extLst>
                <a:ext uri="{FF2B5EF4-FFF2-40B4-BE49-F238E27FC236}">
                  <a16:creationId xmlns:a16="http://schemas.microsoft.com/office/drawing/2014/main" id="{214B8CC4-C5D1-3087-3FC6-211F70B67134}"/>
                </a:ext>
              </a:extLst>
            </p:cNvPr>
            <p:cNvSpPr/>
            <p:nvPr/>
          </p:nvSpPr>
          <p:spPr>
            <a:xfrm>
              <a:off x="274320" y="4416552"/>
              <a:ext cx="8595360" cy="347472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51" name="Shape 48">
              <a:extLst>
                <a:ext uri="{FF2B5EF4-FFF2-40B4-BE49-F238E27FC236}">
                  <a16:creationId xmlns:a16="http://schemas.microsoft.com/office/drawing/2014/main" id="{AF97A17D-19F5-D64A-9050-98D9659DCC28}"/>
                </a:ext>
              </a:extLst>
            </p:cNvPr>
            <p:cNvSpPr/>
            <p:nvPr/>
          </p:nvSpPr>
          <p:spPr>
            <a:xfrm>
              <a:off x="320040" y="4462272"/>
              <a:ext cx="457200" cy="237744"/>
            </a:xfrm>
            <a:prstGeom prst="roundRect">
              <a:avLst>
                <a:gd name="adj" fmla="val 11538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52" name="Text 49">
              <a:extLst>
                <a:ext uri="{FF2B5EF4-FFF2-40B4-BE49-F238E27FC236}">
                  <a16:creationId xmlns:a16="http://schemas.microsoft.com/office/drawing/2014/main" id="{EB91288B-9911-DE71-305F-2B73722C4C85}"/>
                </a:ext>
              </a:extLst>
            </p:cNvPr>
            <p:cNvSpPr/>
            <p:nvPr/>
          </p:nvSpPr>
          <p:spPr>
            <a:xfrm>
              <a:off x="320040" y="4462272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GET</a:t>
              </a:r>
              <a:endParaRPr lang="en-US" sz="800" dirty="0"/>
            </a:p>
          </p:txBody>
        </p:sp>
        <p:sp>
          <p:nvSpPr>
            <p:cNvPr id="53" name="Text 50">
              <a:extLst>
                <a:ext uri="{FF2B5EF4-FFF2-40B4-BE49-F238E27FC236}">
                  <a16:creationId xmlns:a16="http://schemas.microsoft.com/office/drawing/2014/main" id="{0F4B31D7-7FCA-0106-0287-0EB46F3F26D2}"/>
                </a:ext>
              </a:extLst>
            </p:cNvPr>
            <p:cNvSpPr/>
            <p:nvPr/>
          </p:nvSpPr>
          <p:spPr>
            <a:xfrm>
              <a:off x="868680" y="445312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F2B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/api/analytics/stats</a:t>
              </a:r>
              <a:endParaRPr lang="en-US" sz="950" dirty="0"/>
            </a:p>
          </p:txBody>
        </p:sp>
        <p:sp>
          <p:nvSpPr>
            <p:cNvPr id="54" name="Text 51">
              <a:extLst>
                <a:ext uri="{FF2B5EF4-FFF2-40B4-BE49-F238E27FC236}">
                  <a16:creationId xmlns:a16="http://schemas.microsoft.com/office/drawing/2014/main" id="{68BA80A1-44EA-5129-CE47-670A659CB9C5}"/>
                </a:ext>
              </a:extLst>
            </p:cNvPr>
            <p:cNvSpPr/>
            <p:nvPr/>
          </p:nvSpPr>
          <p:spPr>
            <a:xfrm>
              <a:off x="3794760" y="4453128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</a:rPr>
                <a:t>Get combined user stats + analytics</a:t>
              </a:r>
              <a:endParaRPr lang="en-US" sz="950" dirty="0"/>
            </a:p>
          </p:txBody>
        </p:sp>
        <p:sp>
          <p:nvSpPr>
            <p:cNvPr id="55" name="Text 52">
              <a:extLst>
                <a:ext uri="{FF2B5EF4-FFF2-40B4-BE49-F238E27FC236}">
                  <a16:creationId xmlns:a16="http://schemas.microsoft.com/office/drawing/2014/main" id="{D6E67629-C43B-4450-6E80-B939EAC6E053}"/>
                </a:ext>
              </a:extLst>
            </p:cNvPr>
            <p:cNvSpPr/>
            <p:nvPr/>
          </p:nvSpPr>
          <p:spPr>
            <a:xfrm>
              <a:off x="8138160" y="4489704"/>
              <a:ext cx="685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59E0B"/>
                  </a:solidFill>
                </a:rPr>
                <a:t>Auth: Yes</a:t>
              </a:r>
              <a:endParaRPr lang="en-US" sz="750" dirty="0"/>
            </a:p>
          </p:txBody>
        </p:sp>
      </p:grpSp>
      <p:sp>
        <p:nvSpPr>
          <p:cNvPr id="56" name="Text 3">
            <a:extLst>
              <a:ext uri="{FF2B5EF4-FFF2-40B4-BE49-F238E27FC236}">
                <a16:creationId xmlns:a16="http://schemas.microsoft.com/office/drawing/2014/main" id="{73442924-2479-3D6B-ECFA-17E4B3D6AF43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– Multi-Database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7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 uses three databases, each chosen for specific strengths:</a:t>
            </a:r>
            <a:endParaRPr lang="en-US" sz="13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601863-DD99-187A-74E3-6620F32D05C5}"/>
              </a:ext>
            </a:extLst>
          </p:cNvPr>
          <p:cNvGrpSpPr/>
          <p:nvPr/>
        </p:nvGrpSpPr>
        <p:grpSpPr>
          <a:xfrm>
            <a:off x="274320" y="1786128"/>
            <a:ext cx="8595360" cy="2103120"/>
            <a:chOff x="274320" y="1207008"/>
            <a:chExt cx="8595360" cy="2103120"/>
          </a:xfrm>
        </p:grpSpPr>
        <p:sp>
          <p:nvSpPr>
            <p:cNvPr id="6" name="Shape 4"/>
            <p:cNvSpPr/>
            <p:nvPr/>
          </p:nvSpPr>
          <p:spPr>
            <a:xfrm>
              <a:off x="274320" y="1207008"/>
              <a:ext cx="2743200" cy="457200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274320" y="1207008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Firebase Realtime DB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606040" y="1207008"/>
              <a:ext cx="411480" cy="457200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2529840" y="1207008"/>
              <a:ext cx="4876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74320" y="1664208"/>
              <a:ext cx="274320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411480" y="1737360"/>
              <a:ext cx="2468880" cy="1508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Cloud-synced hierarchical JSON storage.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 users/ and quiz_history/ root nodes.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sync, server-side access via Admin SDK.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00400" y="1207008"/>
              <a:ext cx="2743200" cy="457200"/>
            </a:xfrm>
            <a:prstGeom prst="rect">
              <a:avLst/>
            </a:prstGeom>
            <a:solidFill>
              <a:srgbClr val="1A245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3200400" y="1207008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SQLite</a:t>
              </a:r>
              <a:endParaRPr lang="en-US" sz="13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532120" y="1207008"/>
              <a:ext cx="411480" cy="457200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5478780" y="1207008"/>
              <a:ext cx="4648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0" y="1664208"/>
              <a:ext cx="274320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3337560" y="1737360"/>
              <a:ext cx="2468880" cy="1508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structured relational storage.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SQLAlchemy ORM for data access.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file-based — no external exposure.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126480" y="1207008"/>
              <a:ext cx="2743200" cy="457200"/>
            </a:xfrm>
            <a:prstGeom prst="rect">
              <a:avLst/>
            </a:prstGeom>
            <a:solidFill>
              <a:srgbClr val="00A89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126480" y="1207008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ChromaDB</a:t>
              </a:r>
              <a:endParaRPr lang="en-US" sz="13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458200" y="1207008"/>
              <a:ext cx="411480" cy="457200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8374380" y="120700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126480" y="1664208"/>
              <a:ext cx="274320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6263640" y="1737360"/>
              <a:ext cx="2468880" cy="1508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 store for semantic embeddings.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 384-dim Sentence Transformer vectors.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Enables semantic similarity search on emails.</a:t>
              </a:r>
              <a:endParaRPr lang="en-US" sz="1200" dirty="0"/>
            </a:p>
          </p:txBody>
        </p:sp>
      </p:grpSp>
      <p:sp>
        <p:nvSpPr>
          <p:cNvPr id="28" name="Text 3">
            <a:extLst>
              <a:ext uri="{FF2B5EF4-FFF2-40B4-BE49-F238E27FC236}">
                <a16:creationId xmlns:a16="http://schemas.microsoft.com/office/drawing/2014/main" id="{FD772E12-0530-9026-FFBF-FB97A0560531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– Entity Relationship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services organized into Auth, Quiz Generation, LLM Evaluation, Vector DB, and Analytics layers.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8595360" cy="36576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862FF056-3FF5-3BCB-0DCF-451BF8AE6968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1FD0E-C978-C95A-B729-FE93E675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65A43C-C295-2B73-9EAC-C85D6EA61200}"/>
              </a:ext>
            </a:extLst>
          </p:cNvPr>
          <p:cNvSpPr/>
          <p:nvPr/>
        </p:nvSpPr>
        <p:spPr>
          <a:xfrm>
            <a:off x="0" y="-1"/>
            <a:ext cx="9144000" cy="724747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51DB57-CC00-6AC4-CD67-1F791080A65B}"/>
              </a:ext>
            </a:extLst>
          </p:cNvPr>
          <p:cNvSpPr/>
          <p:nvPr/>
        </p:nvSpPr>
        <p:spPr>
          <a:xfrm>
            <a:off x="358986" y="1063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– Firebase Realtime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Databse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 and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	Vector Store Schema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1FA0FB-3D81-1C5A-3458-BAB7A6FB8C9D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F2B50B-391B-029B-B98A-8FB57EF58DEF}"/>
              </a:ext>
            </a:extLst>
          </p:cNvPr>
          <p:cNvGrpSpPr/>
          <p:nvPr/>
        </p:nvGrpSpPr>
        <p:grpSpPr>
          <a:xfrm>
            <a:off x="4152052" y="955040"/>
            <a:ext cx="4724400" cy="3871057"/>
            <a:chOff x="0" y="0"/>
            <a:chExt cx="5731510" cy="50907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A98BC7-2079-92D5-6A1D-C27742EE78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16"/>
            <a:stretch>
              <a:fillRect/>
            </a:stretch>
          </p:blipFill>
          <p:spPr bwMode="auto">
            <a:xfrm>
              <a:off x="0" y="8467"/>
              <a:ext cx="2946400" cy="23368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DF896A-CD9E-9FA2-B746-BE0EE7B24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200" y="0"/>
              <a:ext cx="2700655" cy="2353310"/>
            </a:xfrm>
            <a:prstGeom prst="rect">
              <a:avLst/>
            </a:prstGeom>
          </p:spPr>
        </p:pic>
        <p:pic>
          <p:nvPicPr>
            <p:cNvPr id="10" name="Graphic 3">
              <a:extLst>
                <a:ext uri="{FF2B5EF4-FFF2-40B4-BE49-F238E27FC236}">
                  <a16:creationId xmlns:a16="http://schemas.microsoft.com/office/drawing/2014/main" id="{E3BD17AD-EDC9-D196-FF01-42BC5946A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0" y="2463800"/>
              <a:ext cx="5731510" cy="262699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F1C5436-B21E-D4C0-2119-7C497A6922C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0267"/>
          <a:stretch>
            <a:fillRect/>
          </a:stretch>
        </p:blipFill>
        <p:spPr bwMode="auto">
          <a:xfrm>
            <a:off x="352213" y="2828520"/>
            <a:ext cx="3501814" cy="19217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6A00C-E79B-73D5-B96D-B9B422F9A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30" y="961478"/>
            <a:ext cx="2989579" cy="1720784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6C99246D-C810-5BB9-4B13-3FF98A75663B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2222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4297680" cy="32308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3919" y="1188720"/>
            <a:ext cx="4175761" cy="323088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6301A0A9-9AF3-B5AD-1603-FD32278A1F22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- User Interfaces (UI)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Single Page Application with Framer Motion animations. All interfaces are responsive and transition-animated.</a:t>
            </a:r>
            <a:endParaRPr lang="en-US" sz="13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AD44902-022D-BDD3-C913-8711732B7D7A}"/>
              </a:ext>
            </a:extLst>
          </p:cNvPr>
          <p:cNvGrpSpPr/>
          <p:nvPr/>
        </p:nvGrpSpPr>
        <p:grpSpPr>
          <a:xfrm>
            <a:off x="365760" y="1203960"/>
            <a:ext cx="8595360" cy="3639312"/>
            <a:chOff x="274320" y="1261872"/>
            <a:chExt cx="8595360" cy="3639312"/>
          </a:xfrm>
        </p:grpSpPr>
        <p:sp>
          <p:nvSpPr>
            <p:cNvPr id="99" name="Shape 5">
              <a:extLst>
                <a:ext uri="{FF2B5EF4-FFF2-40B4-BE49-F238E27FC236}">
                  <a16:creationId xmlns:a16="http://schemas.microsoft.com/office/drawing/2014/main" id="{D3A40650-D62A-4084-31BD-8E9E11E7B702}"/>
                </a:ext>
              </a:extLst>
            </p:cNvPr>
            <p:cNvSpPr/>
            <p:nvPr/>
          </p:nvSpPr>
          <p:spPr>
            <a:xfrm>
              <a:off x="274320" y="1261872"/>
              <a:ext cx="8595360" cy="457200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00" name="Shape 6">
              <a:extLst>
                <a:ext uri="{FF2B5EF4-FFF2-40B4-BE49-F238E27FC236}">
                  <a16:creationId xmlns:a16="http://schemas.microsoft.com/office/drawing/2014/main" id="{FD95DD9D-ACEB-D25F-B688-568D3030D629}"/>
                </a:ext>
              </a:extLst>
            </p:cNvPr>
            <p:cNvSpPr/>
            <p:nvPr/>
          </p:nvSpPr>
          <p:spPr>
            <a:xfrm>
              <a:off x="274320" y="1261872"/>
              <a:ext cx="1188720" cy="45720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01" name="Text 7">
              <a:extLst>
                <a:ext uri="{FF2B5EF4-FFF2-40B4-BE49-F238E27FC236}">
                  <a16:creationId xmlns:a16="http://schemas.microsoft.com/office/drawing/2014/main" id="{E2FEAEA8-2CB9-B723-F94A-3995EDBAF403}"/>
                </a:ext>
              </a:extLst>
            </p:cNvPr>
            <p:cNvSpPr/>
            <p:nvPr/>
          </p:nvSpPr>
          <p:spPr>
            <a:xfrm>
              <a:off x="292608" y="1261872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/home</a:t>
              </a:r>
              <a:endParaRPr lang="en-US" sz="900" dirty="0"/>
            </a:p>
          </p:txBody>
        </p:sp>
        <p:sp>
          <p:nvSpPr>
            <p:cNvPr id="102" name="Text 8">
              <a:extLst>
                <a:ext uri="{FF2B5EF4-FFF2-40B4-BE49-F238E27FC236}">
                  <a16:creationId xmlns:a16="http://schemas.microsoft.com/office/drawing/2014/main" id="{D2B2C539-9BFC-E84C-12B4-3EE04213B012}"/>
                </a:ext>
              </a:extLst>
            </p:cNvPr>
            <p:cNvSpPr/>
            <p:nvPr/>
          </p:nvSpPr>
          <p:spPr>
            <a:xfrm>
              <a:off x="1554480" y="130759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Home Page</a:t>
              </a:r>
              <a:endParaRPr lang="en-US" sz="1100" dirty="0"/>
            </a:p>
          </p:txBody>
        </p:sp>
        <p:sp>
          <p:nvSpPr>
            <p:cNvPr id="103" name="Shape 9">
              <a:extLst>
                <a:ext uri="{FF2B5EF4-FFF2-40B4-BE49-F238E27FC236}">
                  <a16:creationId xmlns:a16="http://schemas.microsoft.com/office/drawing/2014/main" id="{85E060D1-1919-3013-013D-4BC2EBCABEA0}"/>
                </a:ext>
              </a:extLst>
            </p:cNvPr>
            <p:cNvSpPr/>
            <p:nvPr/>
          </p:nvSpPr>
          <p:spPr>
            <a:xfrm>
              <a:off x="3108960" y="1353312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04" name="Text 10">
              <a:extLst>
                <a:ext uri="{FF2B5EF4-FFF2-40B4-BE49-F238E27FC236}">
                  <a16:creationId xmlns:a16="http://schemas.microsoft.com/office/drawing/2014/main" id="{1FE8DA8D-F720-4F6B-BFB8-B2964FDB73CD}"/>
                </a:ext>
              </a:extLst>
            </p:cNvPr>
            <p:cNvSpPr/>
            <p:nvPr/>
          </p:nvSpPr>
          <p:spPr>
            <a:xfrm>
              <a:off x="3108960" y="1353312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Public</a:t>
              </a:r>
              <a:endParaRPr lang="en-US" sz="800" dirty="0"/>
            </a:p>
          </p:txBody>
        </p:sp>
        <p:sp>
          <p:nvSpPr>
            <p:cNvPr id="105" name="Text 11">
              <a:extLst>
                <a:ext uri="{FF2B5EF4-FFF2-40B4-BE49-F238E27FC236}">
                  <a16:creationId xmlns:a16="http://schemas.microsoft.com/office/drawing/2014/main" id="{7FE811EA-9C9A-99A9-944F-98C51DAD5361}"/>
                </a:ext>
              </a:extLst>
            </p:cNvPr>
            <p:cNvSpPr/>
            <p:nvPr/>
          </p:nvSpPr>
          <p:spPr>
            <a:xfrm>
              <a:off x="4023360" y="1316736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Landing page, product overview, CTA</a:t>
              </a:r>
              <a:endParaRPr lang="en-US" sz="1000" dirty="0"/>
            </a:p>
          </p:txBody>
        </p:sp>
        <p:sp>
          <p:nvSpPr>
            <p:cNvPr id="106" name="Shape 12">
              <a:extLst>
                <a:ext uri="{FF2B5EF4-FFF2-40B4-BE49-F238E27FC236}">
                  <a16:creationId xmlns:a16="http://schemas.microsoft.com/office/drawing/2014/main" id="{2E12E03B-A7C0-07F3-B22A-FFBE888857FF}"/>
                </a:ext>
              </a:extLst>
            </p:cNvPr>
            <p:cNvSpPr/>
            <p:nvPr/>
          </p:nvSpPr>
          <p:spPr>
            <a:xfrm>
              <a:off x="274320" y="1792224"/>
              <a:ext cx="8595360" cy="457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07" name="Shape 13">
              <a:extLst>
                <a:ext uri="{FF2B5EF4-FFF2-40B4-BE49-F238E27FC236}">
                  <a16:creationId xmlns:a16="http://schemas.microsoft.com/office/drawing/2014/main" id="{C261ED01-D51B-373E-CA16-4626294E4064}"/>
                </a:ext>
              </a:extLst>
            </p:cNvPr>
            <p:cNvSpPr/>
            <p:nvPr/>
          </p:nvSpPr>
          <p:spPr>
            <a:xfrm>
              <a:off x="274320" y="1792224"/>
              <a:ext cx="1188720" cy="457200"/>
            </a:xfrm>
            <a:prstGeom prst="rect">
              <a:avLst/>
            </a:prstGeom>
            <a:solidFill>
              <a:srgbClr val="0D6EFD"/>
            </a:solidFill>
            <a:ln w="12700">
              <a:solidFill>
                <a:srgbClr val="0D6EFD"/>
              </a:solidFill>
              <a:prstDash val="solid"/>
            </a:ln>
          </p:spPr>
        </p:sp>
        <p:sp>
          <p:nvSpPr>
            <p:cNvPr id="108" name="Text 14">
              <a:extLst>
                <a:ext uri="{FF2B5EF4-FFF2-40B4-BE49-F238E27FC236}">
                  <a16:creationId xmlns:a16="http://schemas.microsoft.com/office/drawing/2014/main" id="{7D0A5142-CA0B-9E6C-C688-EFE1C67C2421}"/>
                </a:ext>
              </a:extLst>
            </p:cNvPr>
            <p:cNvSpPr/>
            <p:nvPr/>
          </p:nvSpPr>
          <p:spPr>
            <a:xfrm>
              <a:off x="292608" y="1792224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/login</a:t>
              </a:r>
              <a:endParaRPr lang="en-US" sz="900" dirty="0"/>
            </a:p>
          </p:txBody>
        </p:sp>
        <p:sp>
          <p:nvSpPr>
            <p:cNvPr id="109" name="Text 15">
              <a:extLst>
                <a:ext uri="{FF2B5EF4-FFF2-40B4-BE49-F238E27FC236}">
                  <a16:creationId xmlns:a16="http://schemas.microsoft.com/office/drawing/2014/main" id="{E5F7719C-C573-D1A9-F32A-FF2BDAF82120}"/>
                </a:ext>
              </a:extLst>
            </p:cNvPr>
            <p:cNvSpPr/>
            <p:nvPr/>
          </p:nvSpPr>
          <p:spPr>
            <a:xfrm>
              <a:off x="1554480" y="1837944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Login</a:t>
              </a:r>
              <a:endParaRPr lang="en-US" sz="1100" dirty="0"/>
            </a:p>
          </p:txBody>
        </p:sp>
        <p:sp>
          <p:nvSpPr>
            <p:cNvPr id="110" name="Shape 16">
              <a:extLst>
                <a:ext uri="{FF2B5EF4-FFF2-40B4-BE49-F238E27FC236}">
                  <a16:creationId xmlns:a16="http://schemas.microsoft.com/office/drawing/2014/main" id="{BB50C115-006B-1791-4D7D-1E6B7B566329}"/>
                </a:ext>
              </a:extLst>
            </p:cNvPr>
            <p:cNvSpPr/>
            <p:nvPr/>
          </p:nvSpPr>
          <p:spPr>
            <a:xfrm>
              <a:off x="3108960" y="1883664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11" name="Text 17">
              <a:extLst>
                <a:ext uri="{FF2B5EF4-FFF2-40B4-BE49-F238E27FC236}">
                  <a16:creationId xmlns:a16="http://schemas.microsoft.com/office/drawing/2014/main" id="{8A57B749-B4C4-11A3-A462-686188EB625C}"/>
                </a:ext>
              </a:extLst>
            </p:cNvPr>
            <p:cNvSpPr/>
            <p:nvPr/>
          </p:nvSpPr>
          <p:spPr>
            <a:xfrm>
              <a:off x="3108960" y="1883664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Public</a:t>
              </a:r>
              <a:endParaRPr lang="en-US" sz="800" dirty="0"/>
            </a:p>
          </p:txBody>
        </p:sp>
        <p:sp>
          <p:nvSpPr>
            <p:cNvPr id="112" name="Text 18">
              <a:extLst>
                <a:ext uri="{FF2B5EF4-FFF2-40B4-BE49-F238E27FC236}">
                  <a16:creationId xmlns:a16="http://schemas.microsoft.com/office/drawing/2014/main" id="{9D3FDEDF-7C30-A3B9-56A5-B2D985AAE029}"/>
                </a:ext>
              </a:extLst>
            </p:cNvPr>
            <p:cNvSpPr/>
            <p:nvPr/>
          </p:nvSpPr>
          <p:spPr>
            <a:xfrm>
              <a:off x="4023360" y="1847088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Firebase email/password login</a:t>
              </a:r>
              <a:endParaRPr lang="en-US" sz="1000" dirty="0"/>
            </a:p>
          </p:txBody>
        </p:sp>
        <p:sp>
          <p:nvSpPr>
            <p:cNvPr id="113" name="Shape 19">
              <a:extLst>
                <a:ext uri="{FF2B5EF4-FFF2-40B4-BE49-F238E27FC236}">
                  <a16:creationId xmlns:a16="http://schemas.microsoft.com/office/drawing/2014/main" id="{DA8FADE2-C5E2-CCAF-26D4-C0909505F13D}"/>
                </a:ext>
              </a:extLst>
            </p:cNvPr>
            <p:cNvSpPr/>
            <p:nvPr/>
          </p:nvSpPr>
          <p:spPr>
            <a:xfrm>
              <a:off x="274320" y="2322576"/>
              <a:ext cx="8595360" cy="457200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14" name="Shape 20">
              <a:extLst>
                <a:ext uri="{FF2B5EF4-FFF2-40B4-BE49-F238E27FC236}">
                  <a16:creationId xmlns:a16="http://schemas.microsoft.com/office/drawing/2014/main" id="{AC184922-97BB-E19F-6D5C-8A8692B34E26}"/>
                </a:ext>
              </a:extLst>
            </p:cNvPr>
            <p:cNvSpPr/>
            <p:nvPr/>
          </p:nvSpPr>
          <p:spPr>
            <a:xfrm>
              <a:off x="274320" y="2322576"/>
              <a:ext cx="1188720" cy="457200"/>
            </a:xfrm>
            <a:prstGeom prst="rect">
              <a:avLst/>
            </a:prstGeom>
            <a:solidFill>
              <a:srgbClr val="0D6EFD"/>
            </a:solidFill>
            <a:ln w="12700">
              <a:solidFill>
                <a:srgbClr val="0D6EFD"/>
              </a:solidFill>
              <a:prstDash val="solid"/>
            </a:ln>
          </p:spPr>
        </p:sp>
        <p:sp>
          <p:nvSpPr>
            <p:cNvPr id="115" name="Text 21">
              <a:extLst>
                <a:ext uri="{FF2B5EF4-FFF2-40B4-BE49-F238E27FC236}">
                  <a16:creationId xmlns:a16="http://schemas.microsoft.com/office/drawing/2014/main" id="{546816BC-685C-4035-15A6-235ACC98B2F3}"/>
                </a:ext>
              </a:extLst>
            </p:cNvPr>
            <p:cNvSpPr/>
            <p:nvPr/>
          </p:nvSpPr>
          <p:spPr>
            <a:xfrm>
              <a:off x="292608" y="2322576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/register</a:t>
              </a:r>
              <a:endParaRPr lang="en-US" sz="900" dirty="0"/>
            </a:p>
          </p:txBody>
        </p:sp>
        <p:sp>
          <p:nvSpPr>
            <p:cNvPr id="116" name="Text 22">
              <a:extLst>
                <a:ext uri="{FF2B5EF4-FFF2-40B4-BE49-F238E27FC236}">
                  <a16:creationId xmlns:a16="http://schemas.microsoft.com/office/drawing/2014/main" id="{D5014E1E-A030-A5CC-1DD9-32814041822F}"/>
                </a:ext>
              </a:extLst>
            </p:cNvPr>
            <p:cNvSpPr/>
            <p:nvPr/>
          </p:nvSpPr>
          <p:spPr>
            <a:xfrm>
              <a:off x="1554480" y="2368296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Register</a:t>
              </a:r>
              <a:endParaRPr lang="en-US" sz="1100" dirty="0"/>
            </a:p>
          </p:txBody>
        </p:sp>
        <p:sp>
          <p:nvSpPr>
            <p:cNvPr id="117" name="Shape 23">
              <a:extLst>
                <a:ext uri="{FF2B5EF4-FFF2-40B4-BE49-F238E27FC236}">
                  <a16:creationId xmlns:a16="http://schemas.microsoft.com/office/drawing/2014/main" id="{1836672C-3147-9DF0-D12B-D80938D1D8BD}"/>
                </a:ext>
              </a:extLst>
            </p:cNvPr>
            <p:cNvSpPr/>
            <p:nvPr/>
          </p:nvSpPr>
          <p:spPr>
            <a:xfrm>
              <a:off x="3108960" y="2414016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18" name="Text 24">
              <a:extLst>
                <a:ext uri="{FF2B5EF4-FFF2-40B4-BE49-F238E27FC236}">
                  <a16:creationId xmlns:a16="http://schemas.microsoft.com/office/drawing/2014/main" id="{8B6F0C42-D5D7-F971-26AB-22795080C0C8}"/>
                </a:ext>
              </a:extLst>
            </p:cNvPr>
            <p:cNvSpPr/>
            <p:nvPr/>
          </p:nvSpPr>
          <p:spPr>
            <a:xfrm>
              <a:off x="3108960" y="2414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Public</a:t>
              </a:r>
              <a:endParaRPr lang="en-US" sz="800" dirty="0"/>
            </a:p>
          </p:txBody>
        </p:sp>
        <p:sp>
          <p:nvSpPr>
            <p:cNvPr id="119" name="Text 25">
              <a:extLst>
                <a:ext uri="{FF2B5EF4-FFF2-40B4-BE49-F238E27FC236}">
                  <a16:creationId xmlns:a16="http://schemas.microsoft.com/office/drawing/2014/main" id="{2D8AE044-46E3-9232-7433-5DC7AED19DF2}"/>
                </a:ext>
              </a:extLst>
            </p:cNvPr>
            <p:cNvSpPr/>
            <p:nvPr/>
          </p:nvSpPr>
          <p:spPr>
            <a:xfrm>
              <a:off x="4023360" y="2377440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New user account creation</a:t>
              </a:r>
              <a:endParaRPr lang="en-US" sz="1000" dirty="0"/>
            </a:p>
          </p:txBody>
        </p:sp>
        <p:sp>
          <p:nvSpPr>
            <p:cNvPr id="120" name="Shape 26">
              <a:extLst>
                <a:ext uri="{FF2B5EF4-FFF2-40B4-BE49-F238E27FC236}">
                  <a16:creationId xmlns:a16="http://schemas.microsoft.com/office/drawing/2014/main" id="{D0BFDF13-D032-4D60-EDB3-DA8B34459316}"/>
                </a:ext>
              </a:extLst>
            </p:cNvPr>
            <p:cNvSpPr/>
            <p:nvPr/>
          </p:nvSpPr>
          <p:spPr>
            <a:xfrm>
              <a:off x="274320" y="2852928"/>
              <a:ext cx="8595360" cy="457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21" name="Shape 27">
              <a:extLst>
                <a:ext uri="{FF2B5EF4-FFF2-40B4-BE49-F238E27FC236}">
                  <a16:creationId xmlns:a16="http://schemas.microsoft.com/office/drawing/2014/main" id="{6D9E5599-7B5C-6BF6-A0F9-72B6224DF06E}"/>
                </a:ext>
              </a:extLst>
            </p:cNvPr>
            <p:cNvSpPr/>
            <p:nvPr/>
          </p:nvSpPr>
          <p:spPr>
            <a:xfrm>
              <a:off x="274320" y="2852928"/>
              <a:ext cx="1188720" cy="4572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22" name="Text 28">
              <a:extLst>
                <a:ext uri="{FF2B5EF4-FFF2-40B4-BE49-F238E27FC236}">
                  <a16:creationId xmlns:a16="http://schemas.microsoft.com/office/drawing/2014/main" id="{273E9D14-E663-13A6-A670-E6F1A6136CDD}"/>
                </a:ext>
              </a:extLst>
            </p:cNvPr>
            <p:cNvSpPr/>
            <p:nvPr/>
          </p:nvSpPr>
          <p:spPr>
            <a:xfrm>
              <a:off x="292608" y="2852928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/quiz</a:t>
              </a:r>
              <a:endParaRPr lang="en-US" sz="900" dirty="0"/>
            </a:p>
          </p:txBody>
        </p:sp>
        <p:sp>
          <p:nvSpPr>
            <p:cNvPr id="123" name="Text 29">
              <a:extLst>
                <a:ext uri="{FF2B5EF4-FFF2-40B4-BE49-F238E27FC236}">
                  <a16:creationId xmlns:a16="http://schemas.microsoft.com/office/drawing/2014/main" id="{3E28A375-73BB-1CA1-8A17-B1DFB524428F}"/>
                </a:ext>
              </a:extLst>
            </p:cNvPr>
            <p:cNvSpPr/>
            <p:nvPr/>
          </p:nvSpPr>
          <p:spPr>
            <a:xfrm>
              <a:off x="1554480" y="2898648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Quiz Page</a:t>
              </a:r>
              <a:endParaRPr lang="en-US" sz="1100" dirty="0"/>
            </a:p>
          </p:txBody>
        </p:sp>
        <p:sp>
          <p:nvSpPr>
            <p:cNvPr id="124" name="Shape 30">
              <a:extLst>
                <a:ext uri="{FF2B5EF4-FFF2-40B4-BE49-F238E27FC236}">
                  <a16:creationId xmlns:a16="http://schemas.microsoft.com/office/drawing/2014/main" id="{88A46F1E-DAFA-F89F-591A-A7FC29167686}"/>
                </a:ext>
              </a:extLst>
            </p:cNvPr>
            <p:cNvSpPr/>
            <p:nvPr/>
          </p:nvSpPr>
          <p:spPr>
            <a:xfrm>
              <a:off x="3108960" y="2944368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25" name="Text 31">
              <a:extLst>
                <a:ext uri="{FF2B5EF4-FFF2-40B4-BE49-F238E27FC236}">
                  <a16:creationId xmlns:a16="http://schemas.microsoft.com/office/drawing/2014/main" id="{A65609D9-D885-F343-01B6-5F2AF5B6C9C0}"/>
                </a:ext>
              </a:extLst>
            </p:cNvPr>
            <p:cNvSpPr/>
            <p:nvPr/>
          </p:nvSpPr>
          <p:spPr>
            <a:xfrm>
              <a:off x="3108960" y="2944368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Protected</a:t>
              </a:r>
              <a:endParaRPr lang="en-US" sz="800" dirty="0"/>
            </a:p>
          </p:txBody>
        </p:sp>
        <p:sp>
          <p:nvSpPr>
            <p:cNvPr id="126" name="Text 32">
              <a:extLst>
                <a:ext uri="{FF2B5EF4-FFF2-40B4-BE49-F238E27FC236}">
                  <a16:creationId xmlns:a16="http://schemas.microsoft.com/office/drawing/2014/main" id="{9A9F248A-5E07-3EDF-AAEE-D38A2EDE7CDB}"/>
                </a:ext>
              </a:extLst>
            </p:cNvPr>
            <p:cNvSpPr/>
            <p:nvPr/>
          </p:nvSpPr>
          <p:spPr>
            <a:xfrm>
              <a:off x="4023360" y="2907792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Email input + quiz generation + quiz taking</a:t>
              </a:r>
              <a:endParaRPr lang="en-US" sz="1000" dirty="0"/>
            </a:p>
          </p:txBody>
        </p:sp>
        <p:sp>
          <p:nvSpPr>
            <p:cNvPr id="127" name="Shape 33">
              <a:extLst>
                <a:ext uri="{FF2B5EF4-FFF2-40B4-BE49-F238E27FC236}">
                  <a16:creationId xmlns:a16="http://schemas.microsoft.com/office/drawing/2014/main" id="{96ABD0F5-8EE9-3DCA-DDCE-E87F0C3B32BB}"/>
                </a:ext>
              </a:extLst>
            </p:cNvPr>
            <p:cNvSpPr/>
            <p:nvPr/>
          </p:nvSpPr>
          <p:spPr>
            <a:xfrm>
              <a:off x="274320" y="3383280"/>
              <a:ext cx="8595360" cy="457200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28" name="Shape 34">
              <a:extLst>
                <a:ext uri="{FF2B5EF4-FFF2-40B4-BE49-F238E27FC236}">
                  <a16:creationId xmlns:a16="http://schemas.microsoft.com/office/drawing/2014/main" id="{D352AD10-0D42-894E-0FED-EFF9A0EEBB5D}"/>
                </a:ext>
              </a:extLst>
            </p:cNvPr>
            <p:cNvSpPr/>
            <p:nvPr/>
          </p:nvSpPr>
          <p:spPr>
            <a:xfrm>
              <a:off x="274320" y="3383280"/>
              <a:ext cx="1188720" cy="457200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</p:sp>
        <p:sp>
          <p:nvSpPr>
            <p:cNvPr id="129" name="Text 35">
              <a:extLst>
                <a:ext uri="{FF2B5EF4-FFF2-40B4-BE49-F238E27FC236}">
                  <a16:creationId xmlns:a16="http://schemas.microsoft.com/office/drawing/2014/main" id="{25C4905D-7812-7BBC-286A-8F063B4A1F34}"/>
                </a:ext>
              </a:extLst>
            </p:cNvPr>
            <p:cNvSpPr/>
            <p:nvPr/>
          </p:nvSpPr>
          <p:spPr>
            <a:xfrm>
              <a:off x="292608" y="3383280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/dashboard</a:t>
              </a:r>
              <a:endParaRPr lang="en-US" sz="900" dirty="0"/>
            </a:p>
          </p:txBody>
        </p:sp>
        <p:sp>
          <p:nvSpPr>
            <p:cNvPr id="130" name="Text 36">
              <a:extLst>
                <a:ext uri="{FF2B5EF4-FFF2-40B4-BE49-F238E27FC236}">
                  <a16:creationId xmlns:a16="http://schemas.microsoft.com/office/drawing/2014/main" id="{8390C2D3-D081-21BA-C51F-2541AF2973F5}"/>
                </a:ext>
              </a:extLst>
            </p:cNvPr>
            <p:cNvSpPr/>
            <p:nvPr/>
          </p:nvSpPr>
          <p:spPr>
            <a:xfrm>
              <a:off x="1554480" y="3429000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Dashboard</a:t>
              </a:r>
              <a:endParaRPr lang="en-US" sz="1100" dirty="0"/>
            </a:p>
          </p:txBody>
        </p:sp>
        <p:sp>
          <p:nvSpPr>
            <p:cNvPr id="131" name="Shape 37">
              <a:extLst>
                <a:ext uri="{FF2B5EF4-FFF2-40B4-BE49-F238E27FC236}">
                  <a16:creationId xmlns:a16="http://schemas.microsoft.com/office/drawing/2014/main" id="{F4050BA4-CE8A-90E7-998E-48E9EFF7DC94}"/>
                </a:ext>
              </a:extLst>
            </p:cNvPr>
            <p:cNvSpPr/>
            <p:nvPr/>
          </p:nvSpPr>
          <p:spPr>
            <a:xfrm>
              <a:off x="3108960" y="3474720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32" name="Text 38">
              <a:extLst>
                <a:ext uri="{FF2B5EF4-FFF2-40B4-BE49-F238E27FC236}">
                  <a16:creationId xmlns:a16="http://schemas.microsoft.com/office/drawing/2014/main" id="{E4010F25-0C86-3985-CC8B-FFACE3E9FB86}"/>
                </a:ext>
              </a:extLst>
            </p:cNvPr>
            <p:cNvSpPr/>
            <p:nvPr/>
          </p:nvSpPr>
          <p:spPr>
            <a:xfrm>
              <a:off x="3108960" y="3474720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Protected</a:t>
              </a:r>
              <a:endParaRPr lang="en-US" sz="800" dirty="0"/>
            </a:p>
          </p:txBody>
        </p:sp>
        <p:sp>
          <p:nvSpPr>
            <p:cNvPr id="133" name="Text 39">
              <a:extLst>
                <a:ext uri="{FF2B5EF4-FFF2-40B4-BE49-F238E27FC236}">
                  <a16:creationId xmlns:a16="http://schemas.microsoft.com/office/drawing/2014/main" id="{2CF230C6-BB18-C7F5-200F-D77DA14935FC}"/>
                </a:ext>
              </a:extLst>
            </p:cNvPr>
            <p:cNvSpPr/>
            <p:nvPr/>
          </p:nvSpPr>
          <p:spPr>
            <a:xfrm>
              <a:off x="4023360" y="3438144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Stats overview + recent quizzes</a:t>
              </a:r>
              <a:endParaRPr lang="en-US" sz="1000" dirty="0"/>
            </a:p>
          </p:txBody>
        </p:sp>
        <p:sp>
          <p:nvSpPr>
            <p:cNvPr id="134" name="Shape 40">
              <a:extLst>
                <a:ext uri="{FF2B5EF4-FFF2-40B4-BE49-F238E27FC236}">
                  <a16:creationId xmlns:a16="http://schemas.microsoft.com/office/drawing/2014/main" id="{00FF5575-CCB5-7865-FC0A-9FB7F06EF6E4}"/>
                </a:ext>
              </a:extLst>
            </p:cNvPr>
            <p:cNvSpPr/>
            <p:nvPr/>
          </p:nvSpPr>
          <p:spPr>
            <a:xfrm>
              <a:off x="274320" y="3913632"/>
              <a:ext cx="8595360" cy="457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35" name="Shape 41">
              <a:extLst>
                <a:ext uri="{FF2B5EF4-FFF2-40B4-BE49-F238E27FC236}">
                  <a16:creationId xmlns:a16="http://schemas.microsoft.com/office/drawing/2014/main" id="{FC6EF14F-31A8-4704-ED5C-F072B5A65B0E}"/>
                </a:ext>
              </a:extLst>
            </p:cNvPr>
            <p:cNvSpPr/>
            <p:nvPr/>
          </p:nvSpPr>
          <p:spPr>
            <a:xfrm>
              <a:off x="274320" y="3913632"/>
              <a:ext cx="1188720" cy="45720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36" name="Text 42">
              <a:extLst>
                <a:ext uri="{FF2B5EF4-FFF2-40B4-BE49-F238E27FC236}">
                  <a16:creationId xmlns:a16="http://schemas.microsoft.com/office/drawing/2014/main" id="{993EB1A3-2304-8D1E-0830-C428E9BCA27A}"/>
                </a:ext>
              </a:extLst>
            </p:cNvPr>
            <p:cNvSpPr/>
            <p:nvPr/>
          </p:nvSpPr>
          <p:spPr>
            <a:xfrm>
              <a:off x="292608" y="3913632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/history</a:t>
              </a:r>
              <a:endParaRPr lang="en-US" sz="900" dirty="0"/>
            </a:p>
          </p:txBody>
        </p:sp>
        <p:sp>
          <p:nvSpPr>
            <p:cNvPr id="137" name="Text 43">
              <a:extLst>
                <a:ext uri="{FF2B5EF4-FFF2-40B4-BE49-F238E27FC236}">
                  <a16:creationId xmlns:a16="http://schemas.microsoft.com/office/drawing/2014/main" id="{81607D48-A116-BF11-E017-B35967D6424C}"/>
                </a:ext>
              </a:extLst>
            </p:cNvPr>
            <p:cNvSpPr/>
            <p:nvPr/>
          </p:nvSpPr>
          <p:spPr>
            <a:xfrm>
              <a:off x="1554480" y="395935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History</a:t>
              </a:r>
              <a:endParaRPr lang="en-US" sz="1100" dirty="0"/>
            </a:p>
          </p:txBody>
        </p:sp>
        <p:sp>
          <p:nvSpPr>
            <p:cNvPr id="138" name="Shape 44">
              <a:extLst>
                <a:ext uri="{FF2B5EF4-FFF2-40B4-BE49-F238E27FC236}">
                  <a16:creationId xmlns:a16="http://schemas.microsoft.com/office/drawing/2014/main" id="{1A2DA969-C3C3-E7C8-DE2B-237664601BA2}"/>
                </a:ext>
              </a:extLst>
            </p:cNvPr>
            <p:cNvSpPr/>
            <p:nvPr/>
          </p:nvSpPr>
          <p:spPr>
            <a:xfrm>
              <a:off x="3108960" y="4005072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39" name="Text 45">
              <a:extLst>
                <a:ext uri="{FF2B5EF4-FFF2-40B4-BE49-F238E27FC236}">
                  <a16:creationId xmlns:a16="http://schemas.microsoft.com/office/drawing/2014/main" id="{F2B0AF94-4F75-A54F-A9D2-399383844F58}"/>
                </a:ext>
              </a:extLst>
            </p:cNvPr>
            <p:cNvSpPr/>
            <p:nvPr/>
          </p:nvSpPr>
          <p:spPr>
            <a:xfrm>
              <a:off x="3108960" y="4005072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Protected</a:t>
              </a:r>
              <a:endParaRPr lang="en-US" sz="800" dirty="0"/>
            </a:p>
          </p:txBody>
        </p:sp>
        <p:sp>
          <p:nvSpPr>
            <p:cNvPr id="140" name="Text 46">
              <a:extLst>
                <a:ext uri="{FF2B5EF4-FFF2-40B4-BE49-F238E27FC236}">
                  <a16:creationId xmlns:a16="http://schemas.microsoft.com/office/drawing/2014/main" id="{C41B378A-6B39-B4D7-560D-19E861743974}"/>
                </a:ext>
              </a:extLst>
            </p:cNvPr>
            <p:cNvSpPr/>
            <p:nvPr/>
          </p:nvSpPr>
          <p:spPr>
            <a:xfrm>
              <a:off x="4023360" y="3968496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All past quiz records paginated</a:t>
              </a:r>
              <a:endParaRPr lang="en-US" sz="1000" dirty="0"/>
            </a:p>
          </p:txBody>
        </p:sp>
        <p:sp>
          <p:nvSpPr>
            <p:cNvPr id="141" name="Shape 47">
              <a:extLst>
                <a:ext uri="{FF2B5EF4-FFF2-40B4-BE49-F238E27FC236}">
                  <a16:creationId xmlns:a16="http://schemas.microsoft.com/office/drawing/2014/main" id="{468A4853-62B2-8ED6-3E72-B12D488F3A4F}"/>
                </a:ext>
              </a:extLst>
            </p:cNvPr>
            <p:cNvSpPr/>
            <p:nvPr/>
          </p:nvSpPr>
          <p:spPr>
            <a:xfrm>
              <a:off x="274320" y="4443984"/>
              <a:ext cx="8595360" cy="457200"/>
            </a:xfrm>
            <a:prstGeom prst="rect">
              <a:avLst/>
            </a:prstGeom>
            <a:solidFill>
              <a:srgbClr val="F1F5F9"/>
            </a:solidFill>
            <a:ln w="5080">
              <a:solidFill>
                <a:srgbClr val="E2E8F0"/>
              </a:solidFill>
              <a:prstDash val="solid"/>
            </a:ln>
          </p:spPr>
        </p:sp>
        <p:sp>
          <p:nvSpPr>
            <p:cNvPr id="142" name="Shape 48">
              <a:extLst>
                <a:ext uri="{FF2B5EF4-FFF2-40B4-BE49-F238E27FC236}">
                  <a16:creationId xmlns:a16="http://schemas.microsoft.com/office/drawing/2014/main" id="{54463C40-7007-EA6F-0574-6AB42DC042A1}"/>
                </a:ext>
              </a:extLst>
            </p:cNvPr>
            <p:cNvSpPr/>
            <p:nvPr/>
          </p:nvSpPr>
          <p:spPr>
            <a:xfrm>
              <a:off x="274320" y="4443984"/>
              <a:ext cx="1188720" cy="4572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43" name="Text 49">
              <a:extLst>
                <a:ext uri="{FF2B5EF4-FFF2-40B4-BE49-F238E27FC236}">
                  <a16:creationId xmlns:a16="http://schemas.microsoft.com/office/drawing/2014/main" id="{1431292C-4CB5-C81B-63C2-BBD7CDC51D2A}"/>
                </a:ext>
              </a:extLst>
            </p:cNvPr>
            <p:cNvSpPr/>
            <p:nvPr/>
          </p:nvSpPr>
          <p:spPr>
            <a:xfrm>
              <a:off x="292608" y="4443984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/progress</a:t>
              </a:r>
              <a:endParaRPr lang="en-US" sz="900" dirty="0"/>
            </a:p>
          </p:txBody>
        </p:sp>
        <p:sp>
          <p:nvSpPr>
            <p:cNvPr id="144" name="Text 50">
              <a:extLst>
                <a:ext uri="{FF2B5EF4-FFF2-40B4-BE49-F238E27FC236}">
                  <a16:creationId xmlns:a16="http://schemas.microsoft.com/office/drawing/2014/main" id="{C00DB276-BCEC-C7EB-3120-E976B873F2E5}"/>
                </a:ext>
              </a:extLst>
            </p:cNvPr>
            <p:cNvSpPr/>
            <p:nvPr/>
          </p:nvSpPr>
          <p:spPr>
            <a:xfrm>
              <a:off x="1554480" y="4489704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2B4D"/>
                  </a:solidFill>
                </a:rPr>
                <a:t>Progress</a:t>
              </a:r>
              <a:endParaRPr lang="en-US" sz="1100" dirty="0"/>
            </a:p>
          </p:txBody>
        </p:sp>
        <p:sp>
          <p:nvSpPr>
            <p:cNvPr id="145" name="Shape 51">
              <a:extLst>
                <a:ext uri="{FF2B5EF4-FFF2-40B4-BE49-F238E27FC236}">
                  <a16:creationId xmlns:a16="http://schemas.microsoft.com/office/drawing/2014/main" id="{C7F7F70C-9194-8127-E917-7A3257644B93}"/>
                </a:ext>
              </a:extLst>
            </p:cNvPr>
            <p:cNvSpPr/>
            <p:nvPr/>
          </p:nvSpPr>
          <p:spPr>
            <a:xfrm>
              <a:off x="3108960" y="4535424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46" name="Text 52">
              <a:extLst>
                <a:ext uri="{FF2B5EF4-FFF2-40B4-BE49-F238E27FC236}">
                  <a16:creationId xmlns:a16="http://schemas.microsoft.com/office/drawing/2014/main" id="{8D9F94ED-A94E-B40A-CDD1-964D67D86EA8}"/>
                </a:ext>
              </a:extLst>
            </p:cNvPr>
            <p:cNvSpPr/>
            <p:nvPr/>
          </p:nvSpPr>
          <p:spPr>
            <a:xfrm>
              <a:off x="3108960" y="4535424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Protected</a:t>
              </a:r>
              <a:endParaRPr lang="en-US" sz="800" dirty="0"/>
            </a:p>
          </p:txBody>
        </p:sp>
        <p:sp>
          <p:nvSpPr>
            <p:cNvPr id="147" name="Text 53">
              <a:extLst>
                <a:ext uri="{FF2B5EF4-FFF2-40B4-BE49-F238E27FC236}">
                  <a16:creationId xmlns:a16="http://schemas.microsoft.com/office/drawing/2014/main" id="{C0328010-6397-C742-9CF2-2D7396E87767}"/>
                </a:ext>
              </a:extLst>
            </p:cNvPr>
            <p:cNvSpPr/>
            <p:nvPr/>
          </p:nvSpPr>
          <p:spPr>
            <a:xfrm>
              <a:off x="4023360" y="4498848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Analytics charts + achievement badges</a:t>
              </a:r>
              <a:endParaRPr lang="en-US" sz="1000" dirty="0"/>
            </a:p>
          </p:txBody>
        </p:sp>
      </p:grpSp>
      <p:sp>
        <p:nvSpPr>
          <p:cNvPr id="148" name="Text 3">
            <a:extLst>
              <a:ext uri="{FF2B5EF4-FFF2-40B4-BE49-F238E27FC236}">
                <a16:creationId xmlns:a16="http://schemas.microsoft.com/office/drawing/2014/main" id="{9A65A5B4-1F48-8DE6-D001-9B183E40BB49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- External Service Interfaces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867755"/>
              </p:ext>
            </p:extLst>
          </p:nvPr>
        </p:nvGraphicFramePr>
        <p:xfrm>
          <a:off x="365760" y="1200149"/>
          <a:ext cx="8321040" cy="29993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in header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Authentication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+ 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Realtime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HTTPS/WSS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(local)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 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I/O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(local file)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27A4DD96-D5F9-B59F-624F-AE606E96BB8F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69B62-598C-B741-5B7E-5BF3987F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596D64-E2F3-FE44-4A71-52309F4007C1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E81585-8BFE-AAE2-E3D9-65EE9B3D358B}"/>
              </a:ext>
            </a:extLst>
          </p:cNvPr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Flow diagram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A3486A-04B4-7A6C-E9C8-AD521D9C8381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C4D5364-B4A2-D28E-0334-374470E3B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8587"/>
            <a:ext cx="8595360" cy="3677919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7CF958B-F291-A7D2-44C7-5FFA98024F14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02439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Session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49808"/>
            <a:ext cx="402336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Global State (Frontend)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33856"/>
            <a:ext cx="402336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37490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authStore.js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user, token, isAuthenticated, isLoading
• Actions: setUser, setToken, logout, checkAuth
• JWT persisted in localStorage
</a:t>
            </a:r>
            <a:r>
              <a:rPr lang="en-US" sz="11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quizStore.js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currentQuiz, selectedAnswers, quizResult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isGenerating, isSubmitting flags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Actions: setQuiz, setAnswer, setResult, resetQuiz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749808"/>
            <a:ext cx="4297680" cy="384048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749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Dual-Token Session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133856"/>
            <a:ext cx="4297680" cy="1277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14647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ID Token for authentication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JWT for API authorization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expires after 1 hour (matches Firebase ID token)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stored in localStorage only (no CSRF risk)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verifies every request — stateless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attaches valid token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failure → silent logout + redirect to /login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F968E5BD-A1D8-A8D6-ED73-612B54CF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411307"/>
            <a:ext cx="4297680" cy="2480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11997B-EED1-D3B5-F7DF-65F3CC39F9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067" y="2935224"/>
            <a:ext cx="2028613" cy="1591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283F96-9523-92AA-1F20-0E62415F85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38"/>
          <a:stretch>
            <a:fillRect/>
          </a:stretch>
        </p:blipFill>
        <p:spPr bwMode="auto">
          <a:xfrm>
            <a:off x="289560" y="2935224"/>
            <a:ext cx="1928707" cy="15910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BAAB2B52-2724-4441-AE6F-CC8C79CFE403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4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- Security Aspects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A896"/>
          </a:solidFill>
          <a:ln/>
        </p:spPr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48863C-E992-E104-6DEA-FD5B21A8596B}"/>
              </a:ext>
            </a:extLst>
          </p:cNvPr>
          <p:cNvGrpSpPr/>
          <p:nvPr/>
        </p:nvGrpSpPr>
        <p:grpSpPr>
          <a:xfrm>
            <a:off x="274320" y="749808"/>
            <a:ext cx="3654213" cy="1981739"/>
            <a:chOff x="274320" y="749808"/>
            <a:chExt cx="4114800" cy="2862072"/>
          </a:xfrm>
        </p:grpSpPr>
        <p:sp>
          <p:nvSpPr>
            <p:cNvPr id="5" name="Shape 3"/>
            <p:cNvSpPr/>
            <p:nvPr/>
          </p:nvSpPr>
          <p:spPr>
            <a:xfrm>
              <a:off x="274320" y="749808"/>
              <a:ext cx="4114800" cy="347472"/>
            </a:xfrm>
            <a:prstGeom prst="rect">
              <a:avLst/>
            </a:prstGeom>
            <a:solidFill>
              <a:srgbClr val="00A89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274320" y="749808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Authentication Security</a:t>
              </a:r>
              <a:endParaRPr lang="en-US" sz="13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1143000"/>
              <a:ext cx="4114800" cy="4572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411480" y="114300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Firebase Authentication</a:t>
              </a:r>
              <a:endParaRPr lang="en-US" sz="10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194560" y="114300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 + password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657600" y="114300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Implemented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74320" y="1645920"/>
              <a:ext cx="4114800" cy="45720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11480" y="164592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JWT via python-jose</a:t>
              </a:r>
              <a:endParaRPr lang="en-US" sz="10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194560" y="164592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1hr expiry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657600" y="164592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Implemented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" y="2148840"/>
              <a:ext cx="4114800" cy="4572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411480" y="214884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Firebase Admin SDK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194560" y="214884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server-side token validation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657600" y="214884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Implemented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" y="2651760"/>
              <a:ext cx="4114800" cy="45720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11480" y="265176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 auto-refresh</a:t>
              </a:r>
              <a:endParaRPr lang="en-US" sz="10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194560" y="265176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getIdToken(true)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657600" y="265176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Implemented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" y="3154680"/>
              <a:ext cx="4114800" cy="4572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11480" y="315468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Password hashing</a:t>
              </a:r>
              <a:endParaRPr lang="en-US" sz="1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194560" y="31546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bcrypt via Firebase Auth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657600" y="315468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Implemented</a:t>
              </a:r>
              <a:endParaRPr lang="en-US" sz="9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7A1EE66-A759-9E9E-4521-F1764A9451E7}"/>
              </a:ext>
            </a:extLst>
          </p:cNvPr>
          <p:cNvGrpSpPr/>
          <p:nvPr/>
        </p:nvGrpSpPr>
        <p:grpSpPr>
          <a:xfrm>
            <a:off x="4047066" y="749710"/>
            <a:ext cx="4886961" cy="1981837"/>
            <a:chOff x="4663440" y="749808"/>
            <a:chExt cx="4114800" cy="3364992"/>
          </a:xfrm>
        </p:grpSpPr>
        <p:sp>
          <p:nvSpPr>
            <p:cNvPr id="27" name="Shape 25"/>
            <p:cNvSpPr/>
            <p:nvPr/>
          </p:nvSpPr>
          <p:spPr>
            <a:xfrm>
              <a:off x="4663440" y="749808"/>
              <a:ext cx="4114800" cy="347472"/>
            </a:xfrm>
            <a:prstGeom prst="rect">
              <a:avLst/>
            </a:prstGeom>
            <a:solidFill>
              <a:srgbClr val="1A2456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4663440" y="749808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&amp; Data Security</a:t>
              </a:r>
              <a:endParaRPr lang="en-US" sz="13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63440" y="1143000"/>
              <a:ext cx="4114800" cy="4572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800600" y="114300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CORS policy</a:t>
              </a:r>
              <a:endParaRPr lang="en-US" sz="10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583680" y="114300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allows only localhost:5173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046720" y="114300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Implemented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663440" y="1645920"/>
              <a:ext cx="4114800" cy="45720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4800600" y="164592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Protected routes</a:t>
              </a:r>
              <a:endParaRPr lang="en-US" sz="10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583680" y="164592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JWT middleware on all private endpoints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046720" y="164592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Implemented</a:t>
              </a:r>
              <a:endParaRPr lang="en-US" sz="9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663440" y="2148840"/>
              <a:ext cx="4114800" cy="4572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4800600" y="214884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 validation</a:t>
              </a:r>
              <a:endParaRPr lang="en-US" sz="10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583680" y="214884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Pydantic V2 schema validation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046720" y="214884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Implemented</a:t>
              </a:r>
              <a:endParaRPr lang="en-US" sz="9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663440" y="2651760"/>
              <a:ext cx="4114800" cy="45720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800600" y="265176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Rate limiting</a:t>
              </a:r>
              <a:endParaRPr lang="en-US" sz="10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583680" y="265176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yet implemented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8046720" y="265176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🔜 Planned</a:t>
              </a:r>
              <a:endParaRPr lang="en-US" sz="9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663440" y="3154680"/>
              <a:ext cx="4114800" cy="4572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800600" y="315468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 enforcement</a:t>
              </a:r>
              <a:endParaRPr lang="en-US" sz="10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583680" y="31546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Required in production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8046720" y="315468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🔜 Production</a:t>
              </a:r>
              <a:endParaRPr lang="en-US" sz="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663440" y="3657600"/>
              <a:ext cx="4114800" cy="45720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4800600" y="365760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24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 content privacy</a:t>
              </a:r>
              <a:endParaRPr lang="en-US" sz="105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583680" y="365760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Donor emails purged after 30 days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8046720" y="3657600"/>
              <a:ext cx="685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Policy Set</a:t>
              </a:r>
              <a:endParaRPr lang="en-US" sz="900" dirty="0"/>
            </a:p>
          </p:txBody>
        </p:sp>
      </p:grp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04440" y="2806133"/>
            <a:ext cx="4135120" cy="2097885"/>
          </a:xfrm>
          <a:prstGeom prst="rect">
            <a:avLst/>
          </a:prstGeom>
        </p:spPr>
      </p:pic>
      <p:sp>
        <p:nvSpPr>
          <p:cNvPr id="56" name="Text 3">
            <a:extLst>
              <a:ext uri="{FF2B5EF4-FFF2-40B4-BE49-F238E27FC236}">
                <a16:creationId xmlns:a16="http://schemas.microsoft.com/office/drawing/2014/main" id="{F6316D42-AD41-EA8E-97B6-85ED11D2AC0D}"/>
              </a:ext>
            </a:extLst>
          </p:cNvPr>
          <p:cNvSpPr/>
          <p:nvPr/>
        </p:nvSpPr>
        <p:spPr>
          <a:xfrm>
            <a:off x="274320" y="493487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QuizBot HLD | Group 03D2 | GAI-15 | GenAI Course | </a:t>
            </a:r>
            <a:r>
              <a:rPr lang="en-US" sz="800" dirty="0" err="1">
                <a:solidFill>
                  <a:srgbClr val="FFFFFF"/>
                </a:solidFill>
              </a:rPr>
              <a:t>Datagami</a:t>
            </a:r>
            <a:r>
              <a:rPr lang="en-US" sz="800" dirty="0">
                <a:solidFill>
                  <a:srgbClr val="FFFFFF"/>
                </a:solidFill>
              </a:rPr>
              <a:t> Skill Based Course | Medicaps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 – High Level 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Highlights: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quiz generation from donor emails  •  Vector semantic search via ChromaDB  •  Dual-token session security  •  Real-time progress analytics  •  3-Tier scalable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773168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03D2  |  GAI-15  |  Medicaps University  |  Academic Year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1811</Words>
  <Application>Microsoft Office PowerPoint</Application>
  <PresentationFormat>On-screen Show (16:9)</PresentationFormat>
  <Paragraphs>338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QuizBot – High Level Design</dc:title>
  <dc:subject>PptxGenJS Presentation</dc:subject>
  <dc:creator>PptxGenJS</dc:creator>
  <cp:lastModifiedBy>Anushka Kashyap</cp:lastModifiedBy>
  <cp:revision>9</cp:revision>
  <dcterms:created xsi:type="dcterms:W3CDTF">2026-02-19T13:01:54Z</dcterms:created>
  <dcterms:modified xsi:type="dcterms:W3CDTF">2026-02-19T17:16:58Z</dcterms:modified>
</cp:coreProperties>
</file>